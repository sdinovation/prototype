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8645" y="859536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1538" y="1682496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1895" y="2505456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9779" y="3328416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9134" y="4151376"/>
            <a:ext cx="109728" cy="109728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7849" y="1143000"/>
            <a:ext cx="91440" cy="9144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23292" y="1965960"/>
            <a:ext cx="91440" cy="9144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1301" y="2788920"/>
            <a:ext cx="91440" cy="9144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815" y="3611880"/>
            <a:ext cx="91440" cy="9144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手写识别神经网络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64592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spc="250" kern="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数学原理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64592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Principles of Handwritten Digit Recognition Neural Network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3566160"/>
            <a:ext cx="2743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邬丕承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48272" y="1261872"/>
            <a:ext cx="219456" cy="219456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148132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...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48272" y="1901952"/>
            <a:ext cx="219456" cy="219456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212140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...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48272" y="2542032"/>
            <a:ext cx="219456" cy="219456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1463040"/>
            <a:ext cx="182880" cy="18288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1920240"/>
            <a:ext cx="182880" cy="18288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2377440"/>
            <a:ext cx="182880" cy="18288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1691640"/>
            <a:ext cx="182880" cy="18288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2148840"/>
            <a:ext cx="182880" cy="18288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1691640"/>
            <a:ext cx="182880" cy="182880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2148840"/>
            <a:ext cx="182880" cy="182880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7728" y="1371600"/>
            <a:ext cx="713232" cy="18288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67728" y="1371600"/>
            <a:ext cx="713232" cy="64008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67728" y="1371600"/>
            <a:ext cx="713232" cy="109728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67728" y="2011680"/>
            <a:ext cx="713232" cy="-4572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67728" y="2011680"/>
            <a:ext cx="713232" cy="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67728" y="2011680"/>
            <a:ext cx="713232" cy="4572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67728" y="2651760"/>
            <a:ext cx="713232" cy="-109728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67728" y="2651760"/>
            <a:ext cx="713232" cy="-64008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2651760"/>
            <a:ext cx="713232" cy="-18288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1554480"/>
            <a:ext cx="548640" cy="2286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1554480"/>
            <a:ext cx="548640" cy="6858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0" y="2011680"/>
            <a:ext cx="548640" cy="-2286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2011680"/>
            <a:ext cx="548640" cy="2286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2468880"/>
            <a:ext cx="548640" cy="-6858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2468880"/>
            <a:ext cx="548640" cy="-2286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0" y="1783080"/>
            <a:ext cx="457200" cy="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95360" y="1783080"/>
            <a:ext cx="457200" cy="4572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95360" y="2240280"/>
            <a:ext cx="457200" cy="-45720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95360" y="2240280"/>
            <a:ext cx="457200" cy="0"/>
          </a:xfrm>
          <a:prstGeom prst="line">
            <a:avLst/>
          </a:prstGeom>
          <a:noFill/>
          <a:ln w="3810">
            <a:solidFill>
              <a:srgbClr val="94A3B8"/>
            </a:solidFill>
            <a:prstDash val="solid"/>
          </a:ln>
        </p:spPr>
      </p:sp>
      <p:sp>
        <p:nvSpPr>
          <p:cNvPr id="4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数据输入与预处理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手写数字图片、像素展开、归一化、One-Hot编码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前向传播（计算预测结果）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网络结构、各层计算、ReLU激活、Softmax输出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291840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损失计算与反向传播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交叉熵损失、误差计算、梯度计算、参数更新</a:t>
            </a:r>
            <a:endParaRPr lang="en-US" sz="12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手写数字图片（以数字 3 为例）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数据集中的一张手写数字图片，大小为 28×28 像素，灰度值范围 0~255。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solidFill>
            <a:srgbClr val="11182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像素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5400000">
            <a:off x="2834640" y="1828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像素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0972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143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像素含义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每个小方格是一个像素（Pixel）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颜色越亮，数值越大；越暗，数值越小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黑色 = 0（最小），白色 = 255（最大）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214884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194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计算机无法直接理解图片，需要把图片转化为数字（像素值），才能输入到神经网络中进行处理。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25196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这张 28×28 的手写数字图片 "3" 是神经网络的输入样本。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像素展开（28×28 = 784）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28×28 的像素矩阵按行展开成一个长度为 784 的向量。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原始图像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0972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28 × 28 像素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00200" y="2011680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057400" y="105156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051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像素矩阵（部分示例）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48840" y="1463040"/>
          <a:ext cx="1828800" cy="1097280"/>
        </p:xfrm>
        <a:graphic>
          <a:graphicData uri="http://schemas.openxmlformats.org/drawingml/2006/table">
            <a:tbl>
              <a:tblPr/>
              <a:tblGrid>
                <a:gridCol w="261518"/>
                <a:gridCol w="261518"/>
                <a:gridCol w="261518"/>
                <a:gridCol w="261518"/>
                <a:gridCol w="261518"/>
                <a:gridCol w="261518"/>
                <a:gridCol w="261518"/>
              </a:tblGrid>
              <a:tr h="156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2057400" y="2606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28 × 28 = 784 个像素值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114800" y="2011680"/>
            <a:ext cx="457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617720" y="105156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4617720" y="1051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展开为 784 维向量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92040" y="146304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150876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(省略)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(省略)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46520" y="1463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2563EB"/>
                </a:solidFill>
              </a:rPr>
              <a:t>第 1 个像素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446520" y="2560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2563EB"/>
                </a:solidFill>
              </a:rPr>
              <a:t>第 784 个像素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365760" y="2971800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展开顺序：先第 1 行从左到右（28个），再第 2 行从左到右，...，最后第 28 行从左到右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1148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" y="4160520"/>
            <a:ext cx="819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通过"像素展开"，我们把 2D 图像 转换成 1D 向量，才能作为神经网络的输入。</a:t>
            </a:r>
            <a:endParaRPr lang="en-US" sz="11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归一化（像素值缩放到 0~1）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将像素值从 0~255 缩放到 0~1 之间，可以加快训练速度并提高稳定性。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像素展开（上一步）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784 维向量（0~255）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40280" y="2103120"/>
            <a:ext cx="5029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14630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x_norm = x / 255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214884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880360" y="217627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0/255 = 0.0000
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5/255 ≈ </a:t>
            </a:r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0.0196
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31/255 ≈ </a:t>
            </a:r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0.1216
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255/255 = </a:t>
            </a:r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2103120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37760" y="105156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归一化后（0~1之间）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4173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463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0.0000
0.0000
0.0000
0.0000
</a:t>
            </a:r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0.0196
</a:t>
            </a:r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0.1216
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0.0000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...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...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0.0000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0.0000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0.0000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784 维向量（0~1）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16052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通过除以 255，将原始像素值压缩到 0~1 之间，使不同特征处于同一量级，更利于模型学习。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真实标签（One-Hot 编码）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MNIST 中，每个图片的标签是一个数字（0~9），我们用 One-Hot 向量来表示真实类别。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原始标签（数字）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8872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这张图片的数字是：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2103120"/>
            <a:ext cx="5486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14600" y="10515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One-Hot 编码（长度=10）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1463040"/>
          <a:ext cx="1645920" cy="18288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303520" y="1051560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530352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说明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03520" y="14173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068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 10 个类别（0~9），需要一个长度为 10 的向量来表示。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如果真实数字是 k，则向量中第 k 个位置为 1，其他位置为 0。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编码是分类问题中常用的标签表示方式。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41148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4160520"/>
            <a:ext cx="819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真实标签用 One-Hot 向量表示，可以方便地与神经网络输出（也是长度为 10 的向量）进行比较，从而计算损失。</a:t>
            </a:r>
            <a:endParaRPr lang="en-US" sz="11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神经网络结构（本例）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本例使用一个简单的全连接前馈神经网络，将 784 维输入映射到 10 维输出。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78408" y="1709928"/>
            <a:ext cx="237744" cy="237744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075688"/>
            <a:ext cx="237744" cy="237744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441448"/>
            <a:ext cx="237744" cy="237744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807208"/>
            <a:ext cx="237744" cy="237744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172968"/>
            <a:ext cx="237744" cy="237744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输入层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4005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(784)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081528" y="1892808"/>
            <a:ext cx="237744" cy="23774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1528" y="2258568"/>
            <a:ext cx="237744" cy="23774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81528" y="2624328"/>
            <a:ext cx="237744" cy="23774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2990088"/>
            <a:ext cx="237744" cy="23774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隐藏层1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0" y="4005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(128)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184648" y="2075688"/>
            <a:ext cx="237744" cy="237744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41448"/>
            <a:ext cx="237744" cy="237744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4648" y="2807208"/>
            <a:ext cx="237744" cy="237744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隐藏层2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4005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(64)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287768" y="2075688"/>
            <a:ext cx="237744" cy="23774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87768" y="2441448"/>
            <a:ext cx="237744" cy="23774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87768" y="2807208"/>
            <a:ext cx="237744" cy="23774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输出层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49440" y="4005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(10)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225296" y="2194560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25296" y="2194560"/>
            <a:ext cx="1847088" cy="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25296" y="2194560"/>
            <a:ext cx="1847088" cy="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25296" y="2560320"/>
            <a:ext cx="1847088" cy="-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25296" y="2560320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25296" y="2560320"/>
            <a:ext cx="1847088" cy="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25296" y="2926080"/>
            <a:ext cx="1847088" cy="-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25296" y="2926080"/>
            <a:ext cx="1847088" cy="-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25296" y="2926080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28416" y="2194560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28416" y="2194560"/>
            <a:ext cx="1847088" cy="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28416" y="2194560"/>
            <a:ext cx="1847088" cy="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28416" y="2560320"/>
            <a:ext cx="1847088" cy="-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28416" y="2560320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28416" y="2560320"/>
            <a:ext cx="1847088" cy="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28416" y="2926080"/>
            <a:ext cx="1847088" cy="-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28416" y="2926080"/>
            <a:ext cx="1847088" cy="-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28416" y="2926080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31536" y="2194560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31536" y="2194560"/>
            <a:ext cx="1847088" cy="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31536" y="2194560"/>
            <a:ext cx="1847088" cy="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31536" y="2560320"/>
            <a:ext cx="1847088" cy="-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31536" y="2560320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31536" y="2560320"/>
            <a:ext cx="1847088" cy="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31536" y="2926080"/>
            <a:ext cx="1847088" cy="-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31536" y="2926080"/>
            <a:ext cx="1847088" cy="-3657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31536" y="2926080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W¹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93192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W²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03504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W³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14400" y="425196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60" name="Text 58"/>
          <p:cNvSpPr/>
          <p:nvPr/>
        </p:nvSpPr>
        <p:spPr>
          <a:xfrm>
            <a:off x="91440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784维输入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0" y="438912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926080" y="425196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63" name="Text 61"/>
          <p:cNvSpPr/>
          <p:nvPr/>
        </p:nvSpPr>
        <p:spPr>
          <a:xfrm>
            <a:off x="292608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128维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72000" y="438912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937760" y="425196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</p:sp>
      <p:sp>
        <p:nvSpPr>
          <p:cNvPr id="66" name="Text 64"/>
          <p:cNvSpPr/>
          <p:nvPr/>
        </p:nvSpPr>
        <p:spPr>
          <a:xfrm>
            <a:off x="493776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64维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583680" y="438912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949440" y="425196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/>
        </p:spPr>
      </p:sp>
      <p:sp>
        <p:nvSpPr>
          <p:cNvPr id="69" name="Text 67"/>
          <p:cNvSpPr/>
          <p:nvPr/>
        </p:nvSpPr>
        <p:spPr>
          <a:xfrm>
            <a:off x="694944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10维→Softmax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74320" y="4617720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4663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W¹(784×128), W²(128×64), W³(64×10) 为各层权重矩阵；每层还有对应偏置向量 b¹, b², b³</a:t>
            </a:r>
            <a:endParaRPr lang="en-US" sz="1000" dirty="0"/>
          </a:p>
        </p:txBody>
      </p:sp>
      <p:sp>
        <p:nvSpPr>
          <p:cNvPr id="7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初始参数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1554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所有权重 W 和偏置 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随机初始化（接近 0）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5603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~ N(0, 0.01)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权重服从均值为0、方差为0.01的正态分布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33832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偏置初始化为 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251960"/>
            <a:ext cx="819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合理的参数初始化是训练成功的关键——太大会导致梯度爆炸，太小会导致梯度消失。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输入到隐藏层1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32688" y="1481328"/>
            <a:ext cx="329184" cy="329184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36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x₁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32688" y="2212848"/>
            <a:ext cx="329184" cy="329184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677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x₂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32688" y="2944368"/>
            <a:ext cx="329184" cy="329184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99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x₇₈₄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输入层 (784)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64608" y="1481328"/>
            <a:ext cx="329184" cy="32918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536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64608" y="2212848"/>
            <a:ext cx="329184" cy="32918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2677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64608" y="2944368"/>
            <a:ext cx="329184" cy="32918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999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128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3383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隐藏层1 (128)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71016" y="1645920"/>
            <a:ext cx="358444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71016" y="1645920"/>
            <a:ext cx="3584448" cy="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71016" y="1645920"/>
            <a:ext cx="3584448" cy="146304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71016" y="2377440"/>
            <a:ext cx="3584448" cy="-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71016" y="2377440"/>
            <a:ext cx="358444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1016" y="2377440"/>
            <a:ext cx="3584448" cy="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71016" y="3108960"/>
            <a:ext cx="3584448" cy="-146304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71016" y="3108960"/>
            <a:ext cx="3584448" cy="-73152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71016" y="3108960"/>
            <a:ext cx="358444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128016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1325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zᵢ⁽¹⁾ = Σ(k=1→784) xₖ·wₖᵢ⁽¹⁾ + bᵢ⁽¹⁾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对每个隐藏层1的神经元 (i=1,...,128)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4400" y="3657600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3703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z⁽¹⁾ = W⁽¹⁾x + b⁽¹⁾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(784×128) × (128×1) = (128×1)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389120"/>
            <a:ext cx="819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z⁽¹⁾ 是隐藏层1的线性变换结果（加权求和+偏置），还需要经过激活函数才能得到最终输出。</a:t>
            </a:r>
            <a:endParaRPr lang="en-US" sz="11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隐藏层1激活（ReLU）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输入 z⁽¹⁾ (128)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48640" cy="274320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z₁⁽¹⁾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05840" y="1600200"/>
            <a:ext cx="10972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1874520"/>
            <a:ext cx="548640" cy="274320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z₂⁽¹⁾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005840" y="2011680"/>
            <a:ext cx="10972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2286000"/>
            <a:ext cx="548640" cy="274320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...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05840" y="2423160"/>
            <a:ext cx="10972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" y="2697480"/>
            <a:ext cx="548640" cy="274320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z₁₂₈⁽¹⁾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194560" y="13716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aᵢ⁽¹⁾ = ReLU(zᵢ⁽¹⁾)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max(0, zᵢ⁽¹⁾)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激活输出 a⁽¹⁾ (128)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a₁⁽¹⁾ = 0.3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51960" y="1691640"/>
            <a:ext cx="457200" cy="-91440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54880" y="187452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a₂⁽¹⁾ = 1.7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51960" y="1828800"/>
            <a:ext cx="457200" cy="182880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54880" y="228600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...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51960" y="1965960"/>
            <a:ext cx="457200" cy="457200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54880" y="26974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a₁₂₈⁽¹⁾ = 2.1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51960" y="2103120"/>
            <a:ext cx="457200" cy="731520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65760" y="320040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246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ReLU(z) = max(0, z) = { z,  z &gt; 0;  0,  z ≤ 0 }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激活函数：正数保持不变，负数变为 0。计算简单，能有效缓解梯度消失问题。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20624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251960"/>
            <a:ext cx="819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对隐藏层1的 128 个神经元，分别进行 ReLU 激活，得到激活输出 a⁽¹⁾。</a:t>
            </a:r>
            <a:endParaRPr lang="en-US" sz="11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隐藏层1到隐藏层2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25296" y="1408176"/>
            <a:ext cx="292608" cy="292608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a₁⁽¹⁾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25296" y="2048256"/>
            <a:ext cx="292608" cy="292608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a₂⁽¹⁾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25296" y="2688336"/>
            <a:ext cx="292608" cy="292608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a₁₂₈⁽¹⁾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25296" y="256032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隐藏层1 (128)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40096" y="1408176"/>
            <a:ext cx="292608" cy="29260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1463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z₁⁽²⁾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40096" y="2048256"/>
            <a:ext cx="292608" cy="29260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2103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z₂⁽²⁾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40096" y="2688336"/>
            <a:ext cx="292608" cy="29260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2743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z₆₄⁽²⁾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隐藏层2 (64)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27048" y="1554480"/>
            <a:ext cx="380390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7048" y="1554480"/>
            <a:ext cx="3803904" cy="64008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27048" y="1554480"/>
            <a:ext cx="3803904" cy="12801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7048" y="2194560"/>
            <a:ext cx="3803904" cy="-64008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27048" y="2194560"/>
            <a:ext cx="380390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27048" y="2194560"/>
            <a:ext cx="3803904" cy="64008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27048" y="2834640"/>
            <a:ext cx="3803904" cy="-12801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27048" y="2834640"/>
            <a:ext cx="3803904" cy="-64008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27048" y="2834640"/>
            <a:ext cx="380390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0" y="12801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zⱼ⁽²⁾ = Σ(i=1→128) aᵢ⁽¹⁾·wᵢⱼ⁽²⁾ + bⱼ⁽²⁾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36576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703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z⁽²⁾ = W⁽²⁾a⁽¹⁾ + b⁽²⁾    (128×64)×(64×1) = (64×1)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251960"/>
            <a:ext cx="819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隐藏层1的 128 个激活值作为输入，通过权重 W⁽²⁾ 和偏置 b⁽²⁾，计算得到隐藏层2的 64 个输入。</a:t>
            </a:r>
            <a:endParaRPr lang="en-US" sz="11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隐藏层2激活（ReLU）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aⱼ⁽²⁾ = ReLU(zⱼ⁽²⁾) = max(0, zⱼ⁽²⁾)    (j = 1, 2, ..., 64)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与隐藏层1完全相同的 ReLU 激活过程，但作用于 64 个神经元。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z₁⁽²⁾ = 2.5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2523744"/>
            <a:ext cx="4572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017520" y="25237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ReLU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749040" y="2523744"/>
            <a:ext cx="4572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237744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a₁⁽²⁾ = 2.5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7889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z₂⁽²⁾ = -0.3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34640" y="2935224"/>
            <a:ext cx="4572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017520" y="293522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ReLU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749040" y="2935224"/>
            <a:ext cx="4572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97680" y="278892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a₂⁽²⁾ = 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20040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z₃⁽²⁾ = 1.8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0" y="3346704"/>
            <a:ext cx="4572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017520" y="33467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ReLU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749040" y="3346704"/>
            <a:ext cx="4572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97680" y="320040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a₃⁽²⁾ = 1.8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" y="36118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611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z₆₄⁽²⁾ = -1.2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34640" y="3758184"/>
            <a:ext cx="4572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017520" y="3758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ReLU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749040" y="3758184"/>
            <a:ext cx="4572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297680" y="36118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611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a₆₄⁽²⁾ = 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1148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特点：正值保持不变，负值变为 0（红色高亮）。这使得网络具有稀疏性，同时避免梯度消失。</a:t>
            </a:r>
            <a:endParaRPr lang="en-US" sz="10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隐藏层2到输出层（得分）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25296" y="1408176"/>
            <a:ext cx="292608" cy="29260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5296" y="2048256"/>
            <a:ext cx="292608" cy="29260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2688336"/>
            <a:ext cx="292608" cy="29260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隐藏层2 (64)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797296" y="1408176"/>
            <a:ext cx="292608" cy="292608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797296" y="2048256"/>
            <a:ext cx="292608" cy="292608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2103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97296" y="2688336"/>
            <a:ext cx="292608" cy="292608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9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输出层 (10)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27048" y="1554480"/>
            <a:ext cx="426110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27048" y="1554480"/>
            <a:ext cx="4261104" cy="64008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27048" y="1554480"/>
            <a:ext cx="4261104" cy="12801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27048" y="2194560"/>
            <a:ext cx="4261104" cy="-64008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27048" y="2194560"/>
            <a:ext cx="426110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7048" y="2194560"/>
            <a:ext cx="4261104" cy="64008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27048" y="2834640"/>
            <a:ext cx="4261104" cy="-128016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7048" y="2834640"/>
            <a:ext cx="4261104" cy="-64008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27048" y="2834640"/>
            <a:ext cx="426110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12801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zₖ⁽³⁾ = Σ(j=1→64) aⱼ⁽²⁾·wⱼₖ⁽³⁾ + bₖ⁽³⁾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1783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对每个输出神经元 (k = 0, 1, ..., 9)：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36576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703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z⁽³⁾ = W⁽³⁾a⁽²⁾ + b⁽³⁾    (64×10)×(10×1) = (10×1)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251960"/>
            <a:ext cx="819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输出层的 z⁽³⁾ 是 10 个"得分"（logits），还需通过 Softmax 转换为概率。</a:t>
            </a:r>
            <a:endParaRPr lang="en-US" sz="11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输出层（Softmax 概率）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得分 z⁽³⁾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640080" cy="228600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z₀⁽³⁾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640080" cy="228600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91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z₁⁽³⁾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94360" y="2011680"/>
            <a:ext cx="640080" cy="228600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11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z₂⁽³⁾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94360" y="2331720"/>
            <a:ext cx="640080" cy="228600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31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z₃⁽³⁾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94360" y="2651760"/>
            <a:ext cx="640080" cy="228600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51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...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4360" y="2971800"/>
            <a:ext cx="640080" cy="228600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</a:rPr>
              <a:t>z₉⁽³⁾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280160" y="2377440"/>
            <a:ext cx="54864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920240" y="14630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ŷᵢ = softmax(zᵢ⁽³⁾)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e^(zᵢ⁽³⁾) / Σₘ e^(zₘ⁽³⁾)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2377440"/>
            <a:ext cx="457200" cy="0"/>
          </a:xfrm>
          <a:prstGeom prst="line">
            <a:avLst/>
          </a:prstGeom>
          <a:noFill/>
          <a:ln w="19050">
            <a:solidFill>
              <a:srgbClr val="F472B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37760" y="100584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概率 ŷ (sum=1)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137160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0: 0.01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0" y="164592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1: 0.02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0" y="192024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2: 0.03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21945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3: 0.88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0" y="246888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4: 0.01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0" y="274320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5: 0.01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0" y="301752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6: 0.01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0" y="329184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7: 0.01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0" y="356616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8: 0.01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29200" y="3840480"/>
            <a:ext cx="18288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9: 0.01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23760" y="155448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预测结果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2376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数字 3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22376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(概率 0.88)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25196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29768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Softmax 函数，将得分转换为概率分布，所有概率之和为 1，模型预测数字为 3（88%置信度）。</a:t>
            </a:r>
            <a:endParaRPr lang="en-US" sz="1100" dirty="0"/>
          </a:p>
        </p:txBody>
      </p:sp>
      <p:sp>
        <p:nvSpPr>
          <p:cNvPr id="5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计算损失（交叉熵损失）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真实分布 y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280160" cy="201168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920240" y="10058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472B6"/>
          </a:solidFill>
          <a:ln/>
        </p:spPr>
      </p:sp>
      <p:sp>
        <p:nvSpPr>
          <p:cNvPr id="9" name="Text 6"/>
          <p:cNvSpPr/>
          <p:nvPr/>
        </p:nvSpPr>
        <p:spPr>
          <a:xfrm>
            <a:off x="1920240" y="1005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预测分布 ŷ</a:t>
            </a:r>
            <a:endParaRPr lang="en-US" sz="9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371600"/>
          <a:ext cx="1280160" cy="201168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0" y="109728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749040" y="1097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-Σ(i=0→9) yᵢ·log(ŷᵢ)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由于 y 是 One-Hot 向量，只有 y₃=1，其余 yᵢ=0，因此损失简化为：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0" y="205740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4904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-log(ŷ₃) = -log(0.88)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0" y="26974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= 0.127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274320" y="420624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4048" y="425196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越小，说明预测越准确。理想情况下 Loss → 0（预测概率 → 1）。</a:t>
            </a:r>
            <a:endParaRPr lang="en-US" sz="11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输出层误差 δ⁽³⁾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δᵢ⁽³⁾ = ŷᵢ - yᵢ    (i = 0, 1, ..., 9)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对于 Softmax + 交叉熵组合，输出层误差简化为：预测值减去真实值。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103120"/>
          <a:ext cx="6400800" cy="164592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097280"/>
                <a:gridCol w="2834640"/>
              </a:tblGrid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ŷᵢ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δᵢ⁽³⁾ = ŷᵢ - yᵢ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-0.12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9319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977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真实类别为 3，因此第 3 个元素误差为负（-0.12），表示模型对这个类的预测还不够高。其余为正，表示对错误类的预测需要降低。</a:t>
            </a:r>
            <a:endParaRPr lang="en-US" sz="10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输出层梯度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∂Loss/∂wⱼₖ⁽³⁾ = aⱼ⁽²⁾ · δₖ⁽³⁾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∂Loss/∂bₖ⁽³⁾ = δₖ⁽³⁾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wⱼₖ⁽³⁾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是从隐藏层2第j个神经元到输出层第k个神经元的权重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 = 该连接的输入激活值 aⱼ⁽²⁾ × 输出层误差 δₖ⁽³⁾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示例：j=1, k=3:  ∂Loss/∂w₁,₃ = 1.2 × (-0.12) = </a:t>
            </a:r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-0.144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示例：j=2, k=3:  ∂Loss/∂w₂,₃ = 0 × (-0.12) = </a:t>
            </a:r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1005840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梯度矩阵 (64×10)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371600"/>
          <a:ext cx="3474720" cy="2286000"/>
        </p:xfrm>
        <a:graphic>
          <a:graphicData uri="http://schemas.openxmlformats.org/drawingml/2006/table">
            <a:tbl>
              <a:tblPr/>
              <a:tblGrid>
                <a:gridCol w="496389"/>
                <a:gridCol w="496389"/>
                <a:gridCol w="496389"/>
                <a:gridCol w="496389"/>
                <a:gridCol w="496389"/>
                <a:gridCol w="496389"/>
                <a:gridCol w="496389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j\k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F4444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a1δ0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a1δ1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a1δ2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</a:rPr>
                        <a:t>a1δ3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a1δ4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a1δ5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a1δ9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a2δ0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a2δ1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a2δ2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</a:rPr>
                        <a:t>a2δ3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a2δ4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a2δ5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a2δ9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a3δ0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a3δ1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a3δ2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</a:rPr>
                        <a:t>a3δ3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a3δ4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a3δ5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a3δ9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a4δ0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a4δ1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a4δ2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</a:rPr>
                        <a:t>a4δ3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a4δ4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a4δ5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a4δ9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...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a₆₄δ0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a₆₄δ1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a₆₄δ2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EF4444"/>
                          </a:solidFill>
                        </a:rPr>
                        <a:t>a₆₄δ3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a₆₄δ4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a₆₄δ5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1E293B"/>
                          </a:solidFill>
                        </a:rPr>
                        <a:t>a₆₄δ9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420624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425196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通过"隐藏层2激活值 × 输出层误差"计算得到 64×10 的梯度矩阵，用于更新权重 W⁽³⁾。</a:t>
            </a:r>
            <a:endParaRPr lang="en-US" sz="11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误差传回隐藏层2: δ⁽²⁾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δⱼ⁽²⁾ = (Σₖ wⱼₖ⁽³⁾ · δₖ⁽³⁾) ⊙ ReLU'(zⱼ⁽²⁾)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ReLU'(z) = { 1,  z &gt; 0;  0,  z ≤ 0 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计算步骤：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将输出层误差 δ⁽³⁾ 通过权重 W⁽³⁾ 加权求和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乘以 ReLU 的导数（z&gt;0 时为 1，z≤0 时为 0）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得到隐藏层2的 64 个误差值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10312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δ⁽²⁾ = (W⁽³⁾ᵀ · δ⁽³⁾) ⊙ ReLU'(z⁽²⁾)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(64×10)ᵀ × (10×1) ⊙ (64×1) = (64×1)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误差反传方向: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320040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δ⁽³⁾ (10)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223760" y="3355848"/>
            <a:ext cx="54864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0" y="320040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δ⁽²⁾ (64)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25196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将输出层误差通过权重反传回隐藏层2，乘以激活函数导数，得到隐藏层2的误差 δ⁽²⁾。</a:t>
            </a:r>
            <a:endParaRPr lang="en-US" sz="11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隐藏层2梯度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∂Loss/∂wᵢⱼ⁽²⁾ = aᵢ⁽¹⁾ · δⱼ⁽²⁾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∂Loss/∂bⱼ⁽²⁾ = δⱼ⁽²⁾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权重梯度 = 隐藏层1激活值 a⁽¹⁾ × 隐藏层2误差 δ⁽²⁾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偏置梯度 = δ⁽²⁾ （直接等于误差）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W⁽²⁾ 梯度矩阵维度: 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64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b⁽²⁾ 梯度向量维度: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00584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梯度矩阵 (128×64)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137160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4630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每个元素 = aᵢ⁽¹⁾ × δⱼ⁽²⁾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行: 128个隐藏层1神经元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列: 64个隐藏层2神经元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与输出层梯度计算方式相同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420624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425196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隐藏层2的梯度用于更新从隐藏层1到隐藏层2的权重 W⁽²⁾ 和偏置 b⁽²⁾。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误差传回隐藏层1: δ⁽¹⁾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δᵢ⁽¹⁾ = (Σⱼ wᵢⱼ⁽²⁾ · δⱼ⁽²⁾) ⊙ ReLU'(zᵢ⁽¹⁾)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δ⁽¹⁾ = (W⁽²⁾ᵀ · δ⁽²⁾) ⊙ ReLU'(z⁽¹⁾)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(128×64)ᵀ × (64×1) ⊙ (128×1) = (128×1)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与上一节结构完全相同，只是作用于隐藏层1的 128 个神经元。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δ⁽³⁾ (10×1)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3017520"/>
            <a:ext cx="6400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77440" y="2788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W⁽³⁾ᵀ·δ⁽³⁾ ⊙ f'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017520" y="28346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δ⁽²⁾ (64×1)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3017520"/>
            <a:ext cx="6400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480560" y="2788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W⁽²⁾ᵀ·δ⁽²⁾ ⊙ f'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120640" y="283464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δ⁽¹⁾ (128×1)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← 误差反传方向 ←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25196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误差从输出层逐步反传回隐藏层2、隐藏层1，每层乘以激活函数导数，完成链式法则的梯度计算。</a:t>
            </a:r>
            <a:endParaRPr lang="en-US" sz="11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更新所有参数（梯度下降）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W_new = W_old - η · ∂Loss/∂W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b_new = b_old - η · ∂Loss/∂b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学习率（例: 0.01）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03120"/>
            <a:ext cx="26974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更新 W⁽¹⁾, b⁽¹⁾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W⁽1⁾_new = W⁽1⁾ - η·∂Loss/∂W⁽1⁾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b⁽1⁾_new = b⁽1⁾ - η·∂Loss/∂b⁽1⁾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维度: 784×128, 128×1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103120"/>
            <a:ext cx="2697480" cy="32004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更新 W⁽²⁾, b⁽²⁾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4688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W⁽2⁾_new = W⁽2⁾ - η·∂Loss/∂W⁽2⁾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2697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b⁽2⁾_new = b⁽2⁾ - η·∂Loss/∂b⁽2⁾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29260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维度: 128×64, 64×1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126480" y="210312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103120"/>
            <a:ext cx="2697480" cy="320040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更新 W⁽³⁾, b⁽³⁾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4688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W⁽3⁾_new = W⁽3⁾ - η·∂Loss/∂W⁽3⁾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2697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b⁽3⁾_new = b⁽3⁾ - η·∂Loss/∂b⁽3⁾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29260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维度: 64×10, 10×1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33832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29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训练循环: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取下一张训练图片 → 重复步骤 1→19 → 直到收敛或达到最大轮数。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00584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051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总参数量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W⁽¹⁾: 100,352 + W⁽²⁾: 8,192 + W⁽³⁾: 640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109,386 个参数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25196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通过梯度下降，使用学习率 η 更新所有权重和偏置，使 Loss 逐步减小，模型逐渐学会识别手写数字。</a:t>
            </a:r>
            <a:endParaRPr lang="en-US" sz="11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手写识别神经网络数学原理</dc:title>
  <dc:subject>PptxGenJS Presentation</dc:subject>
  <dc:creator>邬丕承</dc:creator>
  <cp:lastModifiedBy>邬丕承</cp:lastModifiedBy>
  <cp:revision>1</cp:revision>
  <dcterms:created xsi:type="dcterms:W3CDTF">2026-07-07T00:30:32Z</dcterms:created>
  <dcterms:modified xsi:type="dcterms:W3CDTF">2026-07-07T00:30:32Z</dcterms:modified>
</cp:coreProperties>
</file>